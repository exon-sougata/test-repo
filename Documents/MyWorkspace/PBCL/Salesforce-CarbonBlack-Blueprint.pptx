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SOLUTION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spc="40">
                <a:solidFill>
                  <a:srgbClr val="B4B9B6"/>
                </a:solidFill>
                <a:latin typeface="IBM Plex Mono"/>
              </a:rPr>
              <a:t>PREPARED 18 SEP 2026</a:t>
            </a:r>
          </a:p>
          <a:p>
            <a:pPr algn="r">
              <a:spcBef>
                <a:spcPts val="300"/>
              </a:spcBef>
              <a:spcAft>
                <a:spcPts val="0"/>
              </a:spcAft>
            </a:pPr>
            <a:r>
              <a:rPr sz="950" b="0" i="0" spc="40">
                <a:solidFill>
                  <a:srgbClr val="7C817E"/>
                </a:solidFill>
                <a:latin typeface="IBM Plex Mono"/>
              </a:rPr>
              <a:t>REV. A · FOR INTERNAL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96926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EEF1EF"/>
                </a:solidFill>
                <a:latin typeface="Oswald"/>
              </a:rPr>
              <a:t>SALESFORCE FOR </a:t>
            </a:r>
            <a:r>
              <a:rPr sz="4600" b="1" i="0">
                <a:solidFill>
                  <a:srgbClr val="E2632A"/>
                </a:solidFill>
                <a:latin typeface="Oswald"/>
              </a:rPr>
              <a:t>CARBON BLACK</a:t>
            </a:r>
            <a:r>
              <a:rPr sz="4600" b="1" i="0">
                <a:solidFill>
                  <a:srgbClr val="EEF1EF"/>
                </a:solidFill>
                <a:latin typeface="Oswald"/>
              </a:rPr>
              <a:t>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4B9B6"/>
                </a:solidFill>
                <a:latin typeface="IBM Plex Sans"/>
              </a:rPr>
              <a:t>Unifying B2B sales, account management, and a true 360° account &amp; hierarchy view — turning fragmented plant-level relationships into one governed, group-level commercial picture.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89204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0749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INDUSTRY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EEF1EF"/>
                </a:solidFill>
                <a:latin typeface="IBM Plex Sans"/>
              </a:rPr>
              <a:t>Carbon black / specialty chemicals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50749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BUYER MODEL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EEF1EF"/>
                </a:solidFill>
                <a:latin typeface="IBM Plex Sans"/>
              </a:rPr>
              <a:t>Concentrated, multi-plant B2B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0749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PLATFORM SCOPE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EEF1EF"/>
                </a:solidFill>
                <a:latin typeface="IBM Plex Sans"/>
              </a:rPr>
              <a:t>Sales · CPQ · Service ·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50749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DOCUMENT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EEF1EF"/>
                </a:solidFill>
                <a:latin typeface="IBM Plex Sans"/>
              </a:rPr>
              <a:t>16-section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SALESFORCE × CARBON BLACK 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S.02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WHAT'S IN THIS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1EF"/>
                </a:solidFill>
                <a:latin typeface="Oswald"/>
              </a:rPr>
              <a:t>FOUR PARTS, SIXTEEN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95A"/>
                </a:solidFill>
                <a:latin typeface="IBM Plex Mono"/>
              </a:rPr>
              <a:t>PART I — THE BUSINESS CASE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3288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58775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03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Industry context — why carbon black B2B is structurally hard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89864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295351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04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Current-state gaps this solves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95A"/>
                </a:solidFill>
                <a:latin typeface="IBM Plex Mono"/>
              </a:rPr>
              <a:t>PART II — THE 360° ACCOUNT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922776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7764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05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Account hierarchy — group down to plant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4288536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34340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06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Solution architecture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95A"/>
                </a:solidFill>
                <a:latin typeface="IBM Plex Mono"/>
              </a:rPr>
              <a:t>PART III — PLATFORM DEEP DIVE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253288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258775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07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Account Hierarchy &amp; 360° 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289864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295351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08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Opportunity, pipeline &amp; tender management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63640" y="326440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63640" y="331927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09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CPQ — grade pricing &amp; contracts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363016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368503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10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Service Cloud — quality &amp; complaints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63640" y="399592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63640" y="405079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11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Experience Cloud — distributor portal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" y="436168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63640" y="441655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12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Integration — ERP, production, logistics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4727448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63640" y="478231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13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Analytics &amp; demand forecasting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3675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95A"/>
                </a:solidFill>
                <a:latin typeface="IBM Plex Mono"/>
              </a:rPr>
              <a:t>PART IV — VALUE &amp; ROADMAP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63640" y="5751576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63640" y="580644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14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Business value, before → after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63640" y="6117336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63640" y="617220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15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Implementation roadmap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63640" y="6483096"/>
            <a:ext cx="512064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63640" y="653796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7C817E"/>
                </a:solidFill>
                <a:latin typeface="IBM Plex Mono"/>
              </a:rPr>
              <a:t>16   </a:t>
            </a:r>
            <a:r>
              <a:rPr sz="1200" b="0" i="0">
                <a:solidFill>
                  <a:srgbClr val="EEF1EF"/>
                </a:solidFill>
                <a:latin typeface="IBM Plex Sans"/>
              </a:rPr>
              <a:t>Recommended next steps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SALESFORCE × CARBON BLACK MANUFACTURING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S.03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 —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WHY THIS MARKET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EF1EF"/>
                </a:solidFill>
                <a:latin typeface="Oswald"/>
              </a:rPr>
              <a:t>CARBON BLACK IS B2B AT ITS MOST CONCENTRATED AND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A handful of buyer groups drive most of the volume, every account buys a different mix of grades, and the sales cycle runs through engineering labs before it ever reaches procurement.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3456432" cy="1691640"/>
          </a:xfrm>
          <a:prstGeom prst="rect">
            <a:avLst/>
          </a:prstGeom>
          <a:solidFill>
            <a:srgbClr val="1A1D20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862072"/>
            <a:ext cx="3127248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E2632A"/>
                </a:solidFill>
                <a:latin typeface="IBM Plex Mono"/>
              </a:rPr>
              <a:t>01 · BUYER CONCENTRATION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EF1EF"/>
                </a:solidFill>
                <a:latin typeface="Oswald"/>
              </a:rPr>
              <a:t>A FEW GROUPS, MANY PLANTS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Tire majors and a handful of rubber, plastics, ink and coatings groups account for most offtake — negotiated centrally, received across dozens of sites.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2697480"/>
            <a:ext cx="3456432" cy="1691640"/>
          </a:xfrm>
          <a:prstGeom prst="rect">
            <a:avLst/>
          </a:prstGeom>
          <a:solidFill>
            <a:srgbClr val="1A1D20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2862072"/>
            <a:ext cx="3127248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E2632A"/>
                </a:solidFill>
                <a:latin typeface="IBM Plex Mono"/>
              </a:rPr>
              <a:t>02 · GRADE COMPLEXITY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EF1EF"/>
                </a:solidFill>
                <a:latin typeface="Oswald"/>
              </a:rPr>
              <a:t>30–40+ ASTM GRADES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The N100–N900 series spans distinct furnace parameters, surface area, structure and pH specs — no two plants alike.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8" y="2697480"/>
            <a:ext cx="3456432" cy="1691640"/>
          </a:xfrm>
          <a:prstGeom prst="rect">
            <a:avLst/>
          </a:prstGeom>
          <a:solidFill>
            <a:srgbClr val="1A1D20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862072"/>
            <a:ext cx="3127248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E2632A"/>
                </a:solidFill>
                <a:latin typeface="IBM Plex Mono"/>
              </a:rPr>
              <a:t>03 · FEEDSTOCK VOLATILITY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EF1EF"/>
                </a:solidFill>
                <a:latin typeface="Oswald"/>
              </a:rPr>
              <a:t>PRICING IS FORMULA-LINKED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Feedstock oil cost swings drive frequent, index-linked price revisions, account by account.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53712"/>
            <a:ext cx="3456432" cy="1691640"/>
          </a:xfrm>
          <a:prstGeom prst="rect">
            <a:avLst/>
          </a:prstGeom>
          <a:solidFill>
            <a:srgbClr val="1A1D20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718304"/>
            <a:ext cx="3127248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E2632A"/>
                </a:solidFill>
                <a:latin typeface="IBM Plex Mono"/>
              </a:rPr>
              <a:t>04 · QUALIFICATION CYCLES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EF1EF"/>
                </a:solidFill>
                <a:latin typeface="Oswald"/>
              </a:rPr>
              <a:t>6–18 MONTHS TO FIRST PO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New grade or plant qualification runs through technical trials with customer R&amp;D and quality teams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4553712"/>
            <a:ext cx="3456432" cy="1691640"/>
          </a:xfrm>
          <a:prstGeom prst="rect">
            <a:avLst/>
          </a:prstGeom>
          <a:solidFill>
            <a:srgbClr val="1A1D20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4718304"/>
            <a:ext cx="3127248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E2632A"/>
                </a:solidFill>
                <a:latin typeface="IBM Plex Mono"/>
              </a:rPr>
              <a:t>05 · TENDER-DRIVEN VOLUME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EF1EF"/>
                </a:solidFill>
                <a:latin typeface="Oswald"/>
              </a:rPr>
              <a:t>GROUP TENDERS, PLANT EXECUTION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Annual or multi-year offtake agreements negotiated at group level, executed plant-by-plant.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4553712"/>
            <a:ext cx="3456432" cy="1691640"/>
          </a:xfrm>
          <a:prstGeom prst="rect">
            <a:avLst/>
          </a:prstGeom>
          <a:solidFill>
            <a:srgbClr val="1A1D20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718304"/>
            <a:ext cx="3127248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E2632A"/>
                </a:solidFill>
                <a:latin typeface="IBM Plex Mono"/>
              </a:rPr>
              <a:t>06 · MIXED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EF1EF"/>
                </a:solidFill>
                <a:latin typeface="Oswald"/>
              </a:rPr>
              <a:t>DIRECT + DISTRIBUTOR DEMAND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Smaller compounders are often distributor-served — commercially important, usually invisible in CRM.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 — THE BUSINESS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S.04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 —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WHAT THIS LOOKS LIKE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EF1EF"/>
                </a:solidFill>
                <a:latin typeface="Oswald"/>
              </a:rPr>
              <a:t>SIX GAPS A FRAGMENTED, SPREADSHEET-DRIVEN PROCESS CREATES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09270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4028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632A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21992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No group-level account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221992"/>
            <a:ext cx="5943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Each plant or subsidiary is tracked separately — nobody can see total spend or relationship health for the buying group.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807208"/>
            <a:ext cx="109270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89864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632A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80360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Manual, spreadsheet-based quoting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880360"/>
            <a:ext cx="5943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Grade-wise pricing and volume tiers live in Excel — slow against feedstock moves, error-prone on spec.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465576"/>
            <a:ext cx="109270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5570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632A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38728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Sales and service don't talk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538728"/>
            <a:ext cx="5943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Quality complaints and COA issues sit in a separate system — the account owner often finds out last.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123944"/>
            <a:ext cx="109270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632A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97096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Distributor demand is a blind spot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197096"/>
            <a:ext cx="5943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Indirect accounts have no digital record of end-use, order pattern or stock position.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4782312"/>
            <a:ext cx="109270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87375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632A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855464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Forecasting is disconnected from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855464"/>
            <a:ext cx="5943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Demand planning runs on historical shipments, not what sales is hearing from accounts.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5440680"/>
            <a:ext cx="109270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553212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632A"/>
                </a:solidFill>
                <a:latin typeface="IBM Plex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13832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Contract renewals get missed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5513832"/>
            <a:ext cx="5943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Multi-year offtake tracked on calendar reminders — easy to miss until a competitor is already in.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099048"/>
            <a:ext cx="109270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 — THE BUSINESS 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S.05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 — THE 360° ACCOUNT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ONE ACCOUNT, EVERY 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1EF"/>
                </a:solidFill>
                <a:latin typeface="Oswald"/>
              </a:rPr>
              <a:t>THE ACCOUNT HIERARCHY IS THE BACKBONE OF THE 360°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75607" y="1965960"/>
            <a:ext cx="3840480" cy="566928"/>
          </a:xfrm>
          <a:prstGeom prst="rect">
            <a:avLst/>
          </a:prstGeom>
          <a:solidFill>
            <a:srgbClr val="1E2124"/>
          </a:solidFill>
          <a:ln w="15875">
            <a:solidFill>
              <a:srgbClr val="E26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047" y="203911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1EF"/>
                </a:solidFill>
                <a:latin typeface="IBM Plex Sans"/>
              </a:rPr>
              <a:t>GLOBAL TIRE GROUP — Ultimate Parent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750" b="0" i="0" spc="20">
                <a:solidFill>
                  <a:srgbClr val="7C817E"/>
                </a:solidFill>
                <a:latin typeface="IBM Plex Mono"/>
              </a:rPr>
              <a:t>KEY ACCOUNT MGR: ASSIGNED   ·   GROUP CONTRACT: ACTIVE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.5" y="2532888"/>
            <a:ext cx="0.0" cy="32004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17320" y="2852928"/>
            <a:ext cx="3246120" cy="502920"/>
          </a:xfrm>
          <a:prstGeom prst="rect">
            <a:avLst/>
          </a:prstGeom>
          <a:solidFill>
            <a:srgbClr val="1E2124"/>
          </a:solidFill>
          <a:ln w="15875">
            <a:solidFill>
              <a:srgbClr val="6F9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9260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1EF"/>
                </a:solidFill>
                <a:latin typeface="IBM Plex Sans"/>
              </a:rPr>
              <a:t>APAC Procurement — Regional Parent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750" b="0" i="0" spc="20">
                <a:solidFill>
                  <a:srgbClr val="7C817E"/>
                </a:solidFill>
                <a:latin typeface="IBM Plex Mono"/>
              </a:rPr>
              <a:t>VOL 41,200 MT/YR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852928"/>
            <a:ext cx="3246120" cy="502920"/>
          </a:xfrm>
          <a:prstGeom prst="rect">
            <a:avLst/>
          </a:prstGeom>
          <a:solidFill>
            <a:srgbClr val="1E2124"/>
          </a:solidFill>
          <a:ln w="15875">
            <a:solidFill>
              <a:srgbClr val="6F9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9260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1EF"/>
                </a:solidFill>
                <a:latin typeface="IBM Plex Sans"/>
              </a:rPr>
              <a:t>EMEA Procurement — Regional Parent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750" b="0" i="0" spc="20">
                <a:solidFill>
                  <a:srgbClr val="7C817E"/>
                </a:solidFill>
                <a:latin typeface="IBM Plex Mono"/>
              </a:rPr>
              <a:t>VOL 26,800 MT/YR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0380.0" y="2852928"/>
            <a:ext cx="5349240.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40380.0" y="2852928"/>
            <a:ext cx="0.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40380.0" y="2532888"/>
            <a:ext cx="0.0" cy="32004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89620.0" y="2532888"/>
            <a:ext cx="0.0" cy="32004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00300.0" y="3355848"/>
            <a:ext cx="0.0" cy="32004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417320" y="3675888"/>
            <a:ext cx="1965960" cy="502920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7490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1EF"/>
                </a:solidFill>
                <a:latin typeface="IBM Plex Sans"/>
              </a:rPr>
              <a:t>Plant A — India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750" b="0" i="0" spc="20">
                <a:solidFill>
                  <a:srgbClr val="7C817E"/>
                </a:solidFill>
                <a:latin typeface="IBM Plex Mono"/>
              </a:rPr>
              <a:t>N330 · N220  ·  0 OPEN CASES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94860.0" y="3355848"/>
            <a:ext cx="0.0" cy="32004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11880" y="3675888"/>
            <a:ext cx="1965960" cy="502920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7490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1EF"/>
                </a:solidFill>
                <a:latin typeface="IBM Plex Sans"/>
              </a:rPr>
              <a:t>Plant B — Thailand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750" b="0" i="0" spc="20">
                <a:solidFill>
                  <a:srgbClr val="7C817E"/>
                </a:solidFill>
                <a:latin typeface="IBM Plex Mono"/>
              </a:rPr>
              <a:t>N550  ·  1 OPEN CASE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9620.0" y="3355848"/>
            <a:ext cx="0.0" cy="32004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406640" y="3675888"/>
            <a:ext cx="1965960" cy="502920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37490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1EF"/>
                </a:solidFill>
                <a:latin typeface="IBM Plex Sans"/>
              </a:rPr>
              <a:t>Plant C — Poland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750" b="0" i="0" spc="20">
                <a:solidFill>
                  <a:srgbClr val="7C817E"/>
                </a:solidFill>
                <a:latin typeface="IBM Plex Mono"/>
              </a:rPr>
              <a:t>N660  ·  RENEWAL IN 60D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4544568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4681728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2632A"/>
                </a:solidFill>
                <a:latin typeface="IBM Plex Mono"/>
              </a:rPr>
              <a:t>68,000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Group volume, MT/year — rolled up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681728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2632A"/>
                </a:solidFill>
                <a:latin typeface="IBM Plex Mono"/>
              </a:rPr>
              <a:t>3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Active plant-level contracts under one group agreement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681728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2632A"/>
                </a:solidFill>
                <a:latin typeface="IBM Plex Mono"/>
              </a:rPr>
              <a:t>1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Open quality case, visible to the group account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681728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2632A"/>
                </a:solidFill>
                <a:latin typeface="IBM Plex Mono"/>
              </a:rPr>
              <a:t>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Group account health grade — volume + complaint + renewal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 — THE 360° ACCOUNT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S.06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 — THE 360° ACCOUNT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HOW THE PLATFORM IS LAID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EF1EF"/>
                </a:solidFill>
                <a:latin typeface="Oswald"/>
              </a:rPr>
              <a:t>EVERY BUSINESS FUNCTION MAPS TO A LAYER, EVERY LAYER FEEDS THE ACCOUNT 360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27080" cy="713232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ENGAGE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00" b="1" i="0">
                <a:solidFill>
                  <a:srgbClr val="EEF1EF"/>
                </a:solidFill>
                <a:latin typeface="Oswald"/>
              </a:rPr>
              <a:t>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03704"/>
            <a:ext cx="3240596" cy="420624"/>
          </a:xfrm>
          <a:prstGeom prst="rect">
            <a:avLst/>
          </a:prstGeom>
          <a:noFill/>
          <a:ln w="9525">
            <a:solidFill>
              <a:srgbClr val="E26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286000"/>
            <a:ext cx="30211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2632A"/>
                </a:solidFill>
                <a:latin typeface="IBM Plex Mono"/>
              </a:rPr>
              <a:t>Sales Cloud — Accounts, Contacts, Opportunities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956" y="2203704"/>
            <a:ext cx="3306432" cy="420624"/>
          </a:xfrm>
          <a:prstGeom prst="rect">
            <a:avLst/>
          </a:prstGeom>
          <a:noFill/>
          <a:ln w="9525">
            <a:solidFill>
              <a:srgbClr val="E26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0684" y="2286000"/>
            <a:ext cx="30869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2632A"/>
                </a:solidFill>
                <a:latin typeface="IBM Plex Mono"/>
              </a:rPr>
              <a:t>Experience Cloud — Distributor &amp; customer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62072"/>
            <a:ext cx="10927080" cy="713232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TRANSACT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00" b="1" i="0">
                <a:solidFill>
                  <a:srgbClr val="EEF1EF"/>
                </a:solidFill>
                <a:latin typeface="Oswald"/>
              </a:rPr>
              <a:t>COMMERCIAL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008376"/>
            <a:ext cx="1660532" cy="420624"/>
          </a:xfrm>
          <a:prstGeom prst="rect">
            <a:avLst/>
          </a:prstGeom>
          <a:noFill/>
          <a:ln w="9525">
            <a:solidFill>
              <a:srgbClr val="404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3090672"/>
            <a:ext cx="14410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EF1EF"/>
                </a:solidFill>
                <a:latin typeface="IBM Plex Mono"/>
              </a:rPr>
              <a:t>CPQ — Grade price books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0892" y="3008376"/>
            <a:ext cx="1660532" cy="420624"/>
          </a:xfrm>
          <a:prstGeom prst="rect">
            <a:avLst/>
          </a:prstGeom>
          <a:noFill/>
          <a:ln w="9525">
            <a:solidFill>
              <a:srgbClr val="404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0620" y="3090672"/>
            <a:ext cx="14410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EF1EF"/>
                </a:solidFill>
                <a:latin typeface="IBM Plex Mono"/>
              </a:rPr>
              <a:t>Contracts &amp; e-signature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8584" y="3008376"/>
            <a:ext cx="1331352" cy="420624"/>
          </a:xfrm>
          <a:prstGeom prst="rect">
            <a:avLst/>
          </a:prstGeom>
          <a:noFill/>
          <a:ln w="9525">
            <a:solidFill>
              <a:srgbClr val="404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8312" y="3090672"/>
            <a:ext cx="1111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EF1EF"/>
                </a:solidFill>
                <a:latin typeface="IBM Plex Mono"/>
              </a:rPr>
              <a:t>Approval workflows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66744"/>
            <a:ext cx="10927080" cy="713232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58184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SUPPORT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00" b="1" i="0">
                <a:solidFill>
                  <a:srgbClr val="EEF1EF"/>
                </a:solidFill>
                <a:latin typeface="Oswald"/>
              </a:rPr>
              <a:t>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813048"/>
            <a:ext cx="2450564" cy="420624"/>
          </a:xfrm>
          <a:prstGeom prst="rect">
            <a:avLst/>
          </a:prstGeom>
          <a:noFill/>
          <a:ln w="9525">
            <a:solidFill>
              <a:srgbClr val="404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2928" y="3895344"/>
            <a:ext cx="22311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EF1EF"/>
                </a:solidFill>
                <a:latin typeface="IBM Plex Mono"/>
              </a:rPr>
              <a:t>Service Cloud — Cases, quality, COA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0924" y="3813048"/>
            <a:ext cx="2516400" cy="420624"/>
          </a:xfrm>
          <a:prstGeom prst="rect">
            <a:avLst/>
          </a:prstGeom>
          <a:noFill/>
          <a:ln w="9525">
            <a:solidFill>
              <a:srgbClr val="404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52" y="3895344"/>
            <a:ext cx="22969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EF1EF"/>
                </a:solidFill>
                <a:latin typeface="IBM Plex Mono"/>
              </a:rPr>
              <a:t>Entitlements &amp; SLAs by contract tier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71416"/>
            <a:ext cx="10927080" cy="713232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62856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DECIDE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00" b="1" i="0">
                <a:solidFill>
                  <a:srgbClr val="EEF1EF"/>
                </a:solidFill>
                <a:latin typeface="Oswald"/>
              </a:rPr>
              <a:t>INTELLIGENCE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617720"/>
            <a:ext cx="2384728" cy="420624"/>
          </a:xfrm>
          <a:prstGeom prst="rect">
            <a:avLst/>
          </a:prstGeom>
          <a:noFill/>
          <a:ln w="9525">
            <a:solidFill>
              <a:srgbClr val="6F9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52928" y="4700016"/>
            <a:ext cx="2165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F9CC6"/>
                </a:solidFill>
                <a:latin typeface="IBM Plex Mono"/>
              </a:rPr>
              <a:t>CRM Analytics / Tableau dashboards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65088" y="4617720"/>
            <a:ext cx="2977252" cy="420624"/>
          </a:xfrm>
          <a:prstGeom prst="rect">
            <a:avLst/>
          </a:prstGeom>
          <a:noFill/>
          <a:ln w="9525">
            <a:solidFill>
              <a:srgbClr val="6F9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74816" y="4700016"/>
            <a:ext cx="27577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F9CC6"/>
                </a:solidFill>
                <a:latin typeface="IBM Plex Mono"/>
              </a:rPr>
              <a:t>Einstein forecasting &amp; renewal-risk scoring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276088"/>
            <a:ext cx="10927080" cy="713232"/>
          </a:xfrm>
          <a:prstGeom prst="rect">
            <a:avLst/>
          </a:prstGeom>
          <a:solidFill>
            <a:srgbClr val="1E2124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367528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17E"/>
                </a:solidFill>
                <a:latin typeface="IBM Plex Mono"/>
              </a:rPr>
              <a:t>CONNECT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00" b="1" i="0">
                <a:solidFill>
                  <a:srgbClr val="EEF1EF"/>
                </a:solidFill>
                <a:latin typeface="Oswald"/>
              </a:rPr>
              <a:t>INTEGRATION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422392"/>
            <a:ext cx="1463024" cy="420624"/>
          </a:xfrm>
          <a:prstGeom prst="rect">
            <a:avLst/>
          </a:prstGeom>
          <a:noFill/>
          <a:ln w="9525">
            <a:solidFill>
              <a:srgbClr val="6F9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2928" y="5504688"/>
            <a:ext cx="1243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F9CC6"/>
                </a:solidFill>
                <a:latin typeface="IBM Plex Mono"/>
              </a:rPr>
              <a:t>MuleSoft ↔ SAP / ERP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384" y="5422392"/>
            <a:ext cx="2648072" cy="420624"/>
          </a:xfrm>
          <a:prstGeom prst="rect">
            <a:avLst/>
          </a:prstGeom>
          <a:noFill/>
          <a:ln w="9525">
            <a:solidFill>
              <a:srgbClr val="6F9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12" y="5504688"/>
            <a:ext cx="2428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F9CC6"/>
                </a:solidFill>
                <a:latin typeface="IBM Plex Mono"/>
              </a:rPr>
              <a:t>Production, inventory &amp; logistics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28616" y="5422392"/>
            <a:ext cx="1858040" cy="420624"/>
          </a:xfrm>
          <a:prstGeom prst="rect">
            <a:avLst/>
          </a:prstGeom>
          <a:noFill/>
          <a:ln w="9525">
            <a:solidFill>
              <a:srgbClr val="6F9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8344" y="5504688"/>
            <a:ext cx="1638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F9CC6"/>
                </a:solidFill>
                <a:latin typeface="IBM Plex Mono"/>
              </a:rPr>
              <a:t>QC / LIMS batch &amp; COA feed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904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B4B9B6"/>
                </a:solidFill>
                <a:latin typeface="IBM Plex Sans"/>
              </a:rPr>
              <a:t>Every layer writes back to one record: the </a:t>
            </a:r>
            <a:r>
              <a:rPr sz="1200" b="1" i="0">
                <a:solidFill>
                  <a:srgbClr val="F0895A"/>
                </a:solidFill>
                <a:latin typeface="IBM Plex Sans"/>
              </a:rPr>
              <a:t>Account</a:t>
            </a:r>
            <a:r>
              <a:rPr sz="1200" b="0" i="0">
                <a:solidFill>
                  <a:srgbClr val="B4B9B6"/>
                </a:solidFill>
                <a:latin typeface="IBM Plex Sans"/>
              </a:rPr>
              <a:t>, sitting at the correct point in the hierarchy.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 — THE 360° ACCOUNT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S.07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SALES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ACCOUNT HIERARCHY &amp; THE 360°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The foundation everything else in this blueprint sits on top of.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Unlimited-depth parent/child hierarchy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4261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Group → regional procurement office → plant, modeled natively in Accounts — any new subsidiary slots in without a redesign.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0712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5387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Roll-up fields at every level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38728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Volume, revenue, open cases and contract count roll up automatically — no manual consolidation, no stale spreadsheet.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4348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Account teams tied to the hierarchy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TERRITORY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43484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A Key Account Manager owns the group relationship; local reps own individual plants, enforced by territory rules.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02936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3095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One console, every child account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330952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The Lightning Account console surfaces contracts, quotes, orders, cases and activity across every child account from one screen.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099048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S.08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SALES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OPPORTUNITY, PIPELINE &amp; TENDER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A stage process that matches how carbon black is actually sold — not a generic B2B pipeline.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Stage-gated to the real cycle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4261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Technical Qualification → RFQ/Tender → Commercial Negotiation → Contract → Won — gated on real evidence, not guesswork.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0712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5387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Multi-year offtake as a linked object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38728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A won tender becomes a Contract record with its own term, volume commitment and repricing schedule.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4348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Group-level tender, plant-level execution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HIERARCHY-AWARE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43484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One Opportunity rolled up at the parent account even as individual plants raise their own POs against 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02936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3095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Pipeline sliced by grade, region, plant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330952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Forecast and pipeline reporting cut by ASTM grade and geography — not just by sales rep.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099048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S.09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CPQ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CONFIGURE, PRICE, QUOTE — BY GRADE, BY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Turns grade-and-feedstock pricing from an Excel exercise into a guided, governed quoting flow.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Grade-specific price books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PRODUCT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4261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Every ASTM grade (N100–N900 series) is a Product with spec attributes attached — surface area, structure, pH.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0712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5387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Volume-tier &amp; index-linked pricing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PRICING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38728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Price rules encode both volume-break discounts and feedstock-cost formula links — revisions propagate automatically.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4348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Guided selling for technical reps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43484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Configuration rules block unqualified grades or incompatible packaging/logistics before a quote ever ships.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02936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3095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Approvals, e-signature, contract repository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330952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Below-floor pricing and redlines route through approval; signed contracts attach to the right account automatically.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099048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S.10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SERVICE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QUALITY COMPLAINTS STOP LIVING OUTSIDE THE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The link most manufacturing CRM rollouts miss: closing the loop between what service knows and what sales sees.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Quality-complaint case type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4261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Cases extended with batch number, COA reference and plant of origin — traceable to the exact production run.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0712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5387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SLAs by contract tier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ENTITLEMENTS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38728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Entitlement rules give key accounts faster guaranteed response, enforced automatically.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4348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Closed loop to QC and R&amp;D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43484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Escalation routes to the lab, captures root cause, and tracks corrective action on the same account timeline.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02936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3095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Complaint trend inside Account 360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330952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The account owner sees open and historical complaints alongside the pipeline — never a blind renewal conversation.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099048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S.11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EXPERIENCE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CLOSING THE DISTRIBUTOR BLIND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A self-service portal for the channel that reaches the smallest buyers — the segment most CRM rollouts leave out.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Self-service for distributors &amp; smaller accounts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4261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Place orders, track shipments, and download certificates of analysis without a phone call.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0712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5387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Demand signal flows back into CRM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DATA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38728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Distributor-reported end-customer and stock data becomes structured CRM data.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4348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Lower-value inbound off the sales team's desk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43484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Order-status checks and COA requests are handled by the portal, freeing reps for negotiation work.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02936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S.12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INTEGRATION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THE ACCOUNT 360 IS ONLY AS REAL AS THE ERP DATA FEEDING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Sales, quality and production have always run in separate systems — integration is what makes “360°” true rather than aspirational.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SAP / ERP ↔ Salesforce, via MuleSoft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4261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Orders, inventory and production allocation sync into the Account 360 — no more calling the plant for status.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0712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5387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QC / LIMS batch &amp; COA feed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QUALITY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38728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Batch and certificate data pushes automatically into Service Cloud cases, pre-populated with real evidence.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4348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Logistics &amp; dispatch visibility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FULFILLMENT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43484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Shipment and dispatch status lands on the Account timeline — same live answer everywhere it's asked.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02936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3095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Demand signal flows back out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BI-DIRECTIONAL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330952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What CRM captures about upcoming volume feeds S&amp;OP and feedstock procurement planning.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099048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S.13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ANALYTICS &amp; EINSTEIN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FROM ACCOUNT RECORDS TO A FORECASTING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B9B6"/>
                </a:solidFill>
                <a:latin typeface="IBM Plex Sans"/>
              </a:rPr>
              <a:t>The same hierarchy that powers the 360° view is what makes group-level analytics possible in the first place.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42616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Volume &amp; revenue dashboards, by grade and region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4261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CRM Analytics / Tableau views cut by ASTM grade, geography and account tier — built on the rolled-up hierarchy.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0712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5387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Renewal-risk &amp; opportunity scoring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EINSTEIN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38728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Model flags contracts approaching renewal with adverse signals — before the account team hears it from the customer.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4348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Group-level account health score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43484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A single blended score — volume trend, complaint trend, renewal proximity — rolled up for leadership review.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02936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3095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1EF"/>
                </a:solidFill>
                <a:latin typeface="IBM Plex Sans"/>
              </a:rPr>
              <a:t>Feeds S&amp;OP and feedstock planning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 i="0" spc="40">
                <a:solidFill>
                  <a:srgbClr val="E2632A"/>
                </a:solidFill>
                <a:latin typeface="IBM Plex Mono"/>
              </a:rP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330952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9B6"/>
                </a:solidFill>
                <a:latin typeface="IBM Plex Sans"/>
              </a:rPr>
              <a:t>Sales-reported demand becomes an input to demand planning, not a number production discovers after the fact.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099048"/>
            <a:ext cx="10927080" cy="0"/>
          </a:xfrm>
          <a:prstGeom prst="line">
            <a:avLst/>
          </a:prstGeom>
          <a:ln w="9525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III — PLATFORM 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S.14   </a:t>
            </a:r>
            <a:r>
              <a:rPr sz="1000" b="0" i="0" spc="60">
                <a:solidFill>
                  <a:srgbClr val="7E827D"/>
                </a:solidFill>
                <a:latin typeface="IBM Plex Mono"/>
              </a:rPr>
              <a:t>PART IV — 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84C22"/>
                </a:solidFill>
                <a:latin typeface="IBM Plex Mono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5171A"/>
                </a:solidFill>
                <a:latin typeface="Oswald"/>
              </a:rPr>
              <a:t>WHAT CHANGES, FUNCTION BY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B4E4A"/>
                </a:solidFill>
                <a:latin typeface="IBM Plex Sans"/>
              </a:rPr>
              <a:t>Directional outcomes typical of B2B manufacturing Salesforce programs — a real baseline gets set against current KPIs during discovery, not assumed here.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606040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60904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E827D"/>
                </a:solidFill>
                <a:latin typeface="IBM Plex Mono"/>
              </a:rPr>
              <a:t>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60904"/>
            <a:ext cx="3977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E827D"/>
                </a:solidFill>
                <a:latin typeface="IBM Plex Mon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660904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E827D"/>
                </a:solidFill>
                <a:latin typeface="IBM Plex Mono"/>
              </a:rPr>
              <a:t>AFTER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916936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990088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71A"/>
                </a:solidFill>
                <a:latin typeface="IBM Plex Sans"/>
              </a:rPr>
              <a:t>Account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90088"/>
            <a:ext cx="3977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4E4A"/>
                </a:solidFill>
                <a:latin typeface="IBM Plex Sans"/>
              </a:rPr>
              <a:t>Per-plant silos, no group rollup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90088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5171A"/>
                </a:solidFill>
                <a:latin typeface="IBM Plex Sans"/>
              </a:rPr>
              <a:t>Group-level 360° view from the ultimate parent down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392424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465576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71A"/>
                </a:solidFill>
                <a:latin typeface="IBM Plex Sans"/>
              </a:rPr>
              <a:t>Quoting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65576"/>
            <a:ext cx="3977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4E4A"/>
                </a:solidFill>
                <a:latin typeface="IBM Plex Sans"/>
              </a:rPr>
              <a:t>Manual, spreadsheet-based, 3–5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465576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5171A"/>
                </a:solidFill>
                <a:latin typeface="IBM Plex Sans"/>
              </a:rPr>
              <a:t>Guided CPQ, same-day spec-correct quotes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867912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941064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71A"/>
                </a:solidFill>
                <a:latin typeface="IBM Plex Sans"/>
              </a:rPr>
              <a:t>Contract renewals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41064"/>
            <a:ext cx="3977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4E4A"/>
                </a:solidFill>
                <a:latin typeface="IBM Plex Sans"/>
              </a:rPr>
              <a:t>Tracked manually, ad hoc reminders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41064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5171A"/>
                </a:solidFill>
                <a:latin typeface="IBM Plex Sans"/>
              </a:rPr>
              <a:t>Automated alerts, near-zero missed renewal windows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343400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4416552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71A"/>
                </a:solidFill>
                <a:latin typeface="IBM Plex Sans"/>
              </a:rPr>
              <a:t>Quality complaints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416552"/>
            <a:ext cx="3977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4E4A"/>
                </a:solidFill>
                <a:latin typeface="IBM Plex Sans"/>
              </a:rPr>
              <a:t>Disconnected from the account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416552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5171A"/>
                </a:solidFill>
                <a:latin typeface="IBM Plex Sans"/>
              </a:rPr>
              <a:t>Full visibility, SLA-tracked, closed-loop to R&amp;D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4818888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4892040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71A"/>
                </a:solidFill>
                <a:latin typeface="IBM Plex Sans"/>
              </a:rPr>
              <a:t>Distributor demand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892040"/>
            <a:ext cx="3977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4E4A"/>
                </a:solidFill>
                <a:latin typeface="IBM Plex Sans"/>
              </a:rPr>
              <a:t>No structured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892040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5171A"/>
                </a:solidFill>
                <a:latin typeface="IBM Plex Sans"/>
              </a:rPr>
              <a:t>Real-time via self-service portal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5294376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5367528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71A"/>
                </a:solidFill>
                <a:latin typeface="IBM Plex Sans"/>
              </a:rPr>
              <a:t>Demand forecasting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367528"/>
            <a:ext cx="3977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4E4A"/>
                </a:solidFill>
                <a:latin typeface="IBM Plex Sans"/>
              </a:rPr>
              <a:t>Blind to what sales is hearing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367528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5171A"/>
                </a:solidFill>
                <a:latin typeface="IBM Plex Sans"/>
              </a:rPr>
              <a:t>CRM-fed signal into S&amp;OP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5769864"/>
            <a:ext cx="10927080" cy="0"/>
          </a:xfrm>
          <a:prstGeom prst="line">
            <a:avLst/>
          </a:prstGeom>
          <a:ln w="6350">
            <a:solidFill>
              <a:srgbClr val="C7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593445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27D"/>
                </a:solidFill>
                <a:latin typeface="IBM Plex Sans"/>
              </a:rPr>
              <a:t>Illustrative outcomes, not measured results — to be validated against the company's own baseline during the discovery phase (Section 15, Phase 0).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E827D"/>
                </a:solidFill>
                <a:latin typeface="IBM Plex Mono"/>
              </a:rPr>
              <a:t>PART IV — VALUE &amp;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E827D"/>
                </a:solidFill>
                <a:latin typeface="IBM Plex Mono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S.15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IV — 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HOW IT GETS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EF1EF"/>
                </a:solidFill>
                <a:latin typeface="Oswald"/>
              </a:rPr>
              <a:t>A FIVE-PHASE IMPLEMENTATION PATH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48840"/>
            <a:ext cx="91440" cy="91440"/>
          </a:xfrm>
          <a:prstGeom prst="ellipse">
            <a:avLst/>
          </a:prstGeom>
          <a:solidFill>
            <a:srgbClr val="E2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86384" y="2194560"/>
            <a:ext cx="2039112" cy="0"/>
          </a:xfrm>
          <a:prstGeom prst="line">
            <a:avLst/>
          </a:prstGeom>
          <a:ln w="9525">
            <a:solidFill>
              <a:srgbClr val="404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377440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C817E"/>
                </a:solidFill>
                <a:latin typeface="IBM Plex Mono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1EF"/>
                </a:solidFill>
                <a:latin typeface="IBM Plex Sans"/>
              </a:rPr>
              <a:t>Discovery &amp; 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0665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F0895A"/>
                </a:solidFill>
                <a:latin typeface="IBM Plex Mono"/>
              </a:rPr>
              <a:t>4–6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06654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Map the real account hierarchy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Grade / product catalog audit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Integration &amp; data-quality inventory</a:t>
            </a:r>
          </a:p>
        </p:txBody>
      </p:sp>
      <p:sp>
        <p:nvSpPr>
          <p:cNvPr id="12" name="Oval 11"/>
          <p:cNvSpPr/>
          <p:nvPr/>
        </p:nvSpPr>
        <p:spPr>
          <a:xfrm>
            <a:off x="2862072" y="2148840"/>
            <a:ext cx="91440" cy="91440"/>
          </a:xfrm>
          <a:prstGeom prst="ellipse">
            <a:avLst/>
          </a:prstGeom>
          <a:solidFill>
            <a:srgbClr val="E2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008376" y="2194560"/>
            <a:ext cx="2039112" cy="0"/>
          </a:xfrm>
          <a:prstGeom prst="line">
            <a:avLst/>
          </a:prstGeom>
          <a:ln w="9525">
            <a:solidFill>
              <a:srgbClr val="404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62072" y="2377440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C817E"/>
                </a:solidFill>
                <a:latin typeface="IBM Plex Mono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606040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1EF"/>
                </a:solidFill>
                <a:latin typeface="IBM Plex Sans"/>
              </a:rP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017520"/>
            <a:ext cx="20665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F0895A"/>
                </a:solidFill>
                <a:latin typeface="IBM Plex Mono"/>
              </a:rPr>
              <a:t>8–12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291840"/>
            <a:ext cx="206654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Sales Cloud, Account Hierarchy &amp; 360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Core Opportunity / tender process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Account teams &amp; territories</a:t>
            </a:r>
          </a:p>
        </p:txBody>
      </p:sp>
      <p:sp>
        <p:nvSpPr>
          <p:cNvPr id="18" name="Oval 17"/>
          <p:cNvSpPr/>
          <p:nvPr/>
        </p:nvSpPr>
        <p:spPr>
          <a:xfrm>
            <a:off x="5084064" y="2148840"/>
            <a:ext cx="91440" cy="91440"/>
          </a:xfrm>
          <a:prstGeom prst="ellipse">
            <a:avLst/>
          </a:prstGeom>
          <a:solidFill>
            <a:srgbClr val="E2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230368" y="2194560"/>
            <a:ext cx="2039112" cy="0"/>
          </a:xfrm>
          <a:prstGeom prst="line">
            <a:avLst/>
          </a:prstGeom>
          <a:ln w="9525">
            <a:solidFill>
              <a:srgbClr val="404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84064" y="2377440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C817E"/>
                </a:solidFill>
                <a:latin typeface="IBM Plex Mono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606040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1EF"/>
                </a:solidFill>
                <a:latin typeface="IBM Plex Sans"/>
              </a:rPr>
              <a:t>Commercial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3017520"/>
            <a:ext cx="20665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F0895A"/>
                </a:solidFill>
                <a:latin typeface="IBM Plex Mono"/>
              </a:rPr>
              <a:t>8–10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291840"/>
            <a:ext cx="206654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CPQ &amp; grade price books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Contracts &amp; e-signature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Approval workflows</a:t>
            </a:r>
          </a:p>
        </p:txBody>
      </p:sp>
      <p:sp>
        <p:nvSpPr>
          <p:cNvPr id="24" name="Oval 23"/>
          <p:cNvSpPr/>
          <p:nvPr/>
        </p:nvSpPr>
        <p:spPr>
          <a:xfrm>
            <a:off x="7306056" y="2148840"/>
            <a:ext cx="91440" cy="91440"/>
          </a:xfrm>
          <a:prstGeom prst="ellipse">
            <a:avLst/>
          </a:prstGeom>
          <a:solidFill>
            <a:srgbClr val="E2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452360" y="2194560"/>
            <a:ext cx="2039112" cy="0"/>
          </a:xfrm>
          <a:prstGeom prst="line">
            <a:avLst/>
          </a:prstGeom>
          <a:ln w="9525">
            <a:solidFill>
              <a:srgbClr val="404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06056" y="2377440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C817E"/>
                </a:solidFill>
                <a:latin typeface="IBM Plex Mono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6056" y="2606040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1EF"/>
                </a:solidFill>
                <a:latin typeface="IBM Plex Sans"/>
              </a:rPr>
              <a:t>Service &amp;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3017520"/>
            <a:ext cx="20665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F0895A"/>
                </a:solidFill>
                <a:latin typeface="IBM Plex Mono"/>
              </a:rPr>
              <a:t>8–10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3291840"/>
            <a:ext cx="206654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Service Cloud quality management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Experience Cloud distributor portal</a:t>
            </a:r>
          </a:p>
        </p:txBody>
      </p:sp>
      <p:sp>
        <p:nvSpPr>
          <p:cNvPr id="30" name="Oval 29"/>
          <p:cNvSpPr/>
          <p:nvPr/>
        </p:nvSpPr>
        <p:spPr>
          <a:xfrm>
            <a:off x="9528048" y="2148840"/>
            <a:ext cx="91440" cy="91440"/>
          </a:xfrm>
          <a:prstGeom prst="ellipse">
            <a:avLst/>
          </a:prstGeom>
          <a:solidFill>
            <a:srgbClr val="E2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8048" y="2377440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7C817E"/>
                </a:solidFill>
                <a:latin typeface="IBM Plex Mono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2606040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1EF"/>
                </a:solidFill>
                <a:latin typeface="IBM Plex Sans"/>
              </a:rPr>
              <a:t>Intelligence &amp;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3017520"/>
            <a:ext cx="20665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F0895A"/>
                </a:solidFill>
                <a:latin typeface="IBM Plex Mono"/>
              </a:rPr>
              <a:t>6–8 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291840"/>
            <a:ext cx="206654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ERP / MuleSoft integration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Analytics &amp; Einstein forecasting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B4B9B6"/>
                </a:solidFill>
                <a:latin typeface="IBM Plex Sans"/>
              </a:rPr>
              <a:t>– Adoption &amp; governance, ongoing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PART IV — VALUE &amp; 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 spc="60">
                <a:solidFill>
                  <a:srgbClr val="E2632A"/>
                </a:solidFill>
                <a:latin typeface="IBM Plex Mono"/>
              </a:rPr>
              <a:t>S.16   </a:t>
            </a:r>
            <a:r>
              <a:rPr sz="1000" b="0" i="0" spc="60">
                <a:solidFill>
                  <a:srgbClr val="7C817E"/>
                </a:solidFill>
                <a:latin typeface="IBM Plex Mono"/>
              </a:rPr>
              <a:t>PART IV — 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E2632A"/>
                </a:solidFill>
                <a:latin typeface="IBM Plex Mono"/>
              </a:rPr>
              <a:t>WHERE TO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1EF"/>
                </a:solidFill>
                <a:latin typeface="Oswald"/>
              </a:rPr>
              <a:t>THREE STEPS BEFORE PHASE 0 BEGINS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65836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58568"/>
            <a:ext cx="457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632A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5852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1EF"/>
                </a:solidFill>
                <a:latin typeface="IBM Plex Sans"/>
              </a:rPr>
              <a:t>Discovery workshop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Half-day session to map the current account hierarchy, grade portfolio and the biggest pain points in the room, not on a slide.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200400"/>
            <a:ext cx="65836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310128"/>
            <a:ext cx="457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632A"/>
                </a:solidFill>
                <a:latin typeface="IBM Plex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91840"/>
            <a:ext cx="5852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1EF"/>
                </a:solidFill>
                <a:latin typeface="IBM Plex Sans"/>
              </a:rPr>
              <a:t>Data readiness check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Assess the quality of the ERP/SAP account and product master data the 360° view will be built 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4251960"/>
            <a:ext cx="65836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4361688"/>
            <a:ext cx="457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632A"/>
                </a:solidFill>
                <a:latin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343400"/>
            <a:ext cx="5852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1EF"/>
                </a:solidFill>
                <a:latin typeface="IBM Plex Sans"/>
              </a:rPr>
              <a:t>Solution design sprint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B4B9B6"/>
                </a:solidFill>
                <a:latin typeface="IBM Plex Sans"/>
              </a:rPr>
              <a:t>Confirm the Phase 1 scope — hierarchy structure, territory model, and the first cut of the Opportunity process.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5303520"/>
            <a:ext cx="6583680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89520" y="2148840"/>
            <a:ext cx="3977639" cy="2834640"/>
          </a:xfrm>
          <a:prstGeom prst="rect">
            <a:avLst/>
          </a:prstGeom>
          <a:solidFill>
            <a:srgbClr val="1A1D20"/>
          </a:solidFill>
          <a:ln w="9525">
            <a:solidFill>
              <a:srgbClr val="333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377440"/>
            <a:ext cx="34655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70">
                <a:solidFill>
                  <a:srgbClr val="E2632A"/>
                </a:solidFill>
                <a:latin typeface="IBM Plex Mono"/>
              </a:rPr>
              <a:t>DOCUMENT INFO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5552" y="2834640"/>
            <a:ext cx="3465575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45552" y="2926080"/>
            <a:ext cx="3465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 spc="40">
                <a:solidFill>
                  <a:srgbClr val="7C817E"/>
                </a:solidFill>
                <a:latin typeface="IBM Plex Mono"/>
              </a:rPr>
              <a:t>PREPARED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EEF1EF"/>
                </a:solidFill>
                <a:latin typeface="IBM Plex Sans"/>
              </a:rPr>
              <a:t>18 Sep 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45552" y="3401568"/>
            <a:ext cx="3465575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45552" y="3493008"/>
            <a:ext cx="3465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 spc="40">
                <a:solidFill>
                  <a:srgbClr val="7C817E"/>
                </a:solidFill>
                <a:latin typeface="IBM Plex Mono"/>
              </a:rPr>
              <a:t>SCOPE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EEF1EF"/>
                </a:solidFill>
                <a:latin typeface="IBM Plex Sans"/>
              </a:rPr>
              <a:t>Sales Cloud · CPQ · Service · Experience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45552" y="3968496"/>
            <a:ext cx="3465575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45552" y="4059936"/>
            <a:ext cx="3465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 spc="40">
                <a:solidFill>
                  <a:srgbClr val="7C817E"/>
                </a:solidFill>
                <a:latin typeface="IBM Plex Mono"/>
              </a:rPr>
              <a:t>STATUS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EEF1EF"/>
                </a:solidFill>
                <a:latin typeface="IBM Plex Sans"/>
              </a:rPr>
              <a:t>Blueprint for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45552" y="4535424"/>
            <a:ext cx="3465575" cy="0"/>
          </a:xfrm>
          <a:prstGeom prst="line">
            <a:avLst/>
          </a:prstGeom>
          <a:ln w="6350">
            <a:solidFill>
              <a:srgbClr val="333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45552" y="4626864"/>
            <a:ext cx="3465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 spc="40">
                <a:solidFill>
                  <a:srgbClr val="7C817E"/>
                </a:solidFill>
                <a:latin typeface="IBM Plex Mono"/>
              </a:rPr>
              <a:t>FORMAT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EEF1EF"/>
                </a:solidFill>
                <a:latin typeface="IBM Plex Sans"/>
              </a:rPr>
              <a:t>Companion .html deck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SALESFORCE × CARBON BLACK 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73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C817E"/>
                </a:solidFill>
                <a:latin typeface="IBM Plex Mono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